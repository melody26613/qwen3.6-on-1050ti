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5" r:id="rId6"/>
    <p:sldId id="264" r:id="rId7"/>
    <p:sldId id="261" r:id="rId8"/>
    <p:sldId id="260" r:id="rId9"/>
    <p:sldId id="262" r:id="rId10"/>
    <p:sldId id="263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92D252-343D-F47A-2607-42E60B315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19B3216-E720-53C2-8491-7EFC440C8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F1DCF5-FBE4-8FB3-B262-976CB9F15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8573-C466-4C6C-BFF0-AE2FBE71186F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C96450-2497-A145-A645-13CBB908D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E2F777-7C78-B07C-AB7B-D572183D5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DB7E-03A0-4CE4-8817-D83EC769C4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9494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0CD339-4CBE-2E9C-40D9-08FE8A1C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667D40-A283-11BF-7827-9D8178C59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8FB67C-43B2-ACB5-051A-7F92B0A15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8573-C466-4C6C-BFF0-AE2FBE71186F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0BC616-D4C1-FEE5-F977-0C0ADD729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8C1F78-7F02-975E-8F6A-F0261B7B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DB7E-03A0-4CE4-8817-D83EC769C4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9492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CE2225-E22E-F531-AF45-02F370855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1086A6B-8DF8-5A3A-65E4-7358A9D0A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37BA3E-0E95-1782-C150-9B691CFFE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8573-C466-4C6C-BFF0-AE2FBE71186F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A7A6D8-86E0-35D9-AD14-7FE6DC02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24BBB7-EAA9-F6E8-AA11-27125F58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DB7E-03A0-4CE4-8817-D83EC769C4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0260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0CC22-7672-4187-73D4-01ED5084E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A0113C-1F78-BD6F-0AC2-D52041F10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0B0E4B8-8EDD-22DF-B664-A63B4301C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8FC3362-0E07-DF80-4836-0F568119D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8573-C466-4C6C-BFF0-AE2FBE71186F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DA695A5-9029-D7A3-47E2-F620F11BD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8A658F7-9280-4B6B-E606-777A9E81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DB7E-03A0-4CE4-8817-D83EC769C4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1752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0E0C99-D676-34D9-46BD-7D03EBD4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021AAB-B897-1BE4-1988-7D4850614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A4EA354-3AF6-B4A6-A6A0-4A8FBDE8F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D4D7A88-EF47-F231-08A0-AC8E9A6DF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845FCB0-E7F2-C858-F9AF-597F5B24F7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A39A6B8-8F45-C340-8B94-F3E576E5D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8573-C466-4C6C-BFF0-AE2FBE71186F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4AF11C5-4C06-E663-87D9-E23C7D4CC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5B4F392-09BA-EDDC-EEC8-142721AB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DB7E-03A0-4CE4-8817-D83EC769C4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832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2DF855-EDCC-B0C4-177D-4737A3E57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3F05CD1-E883-8960-450A-DE4A6907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8573-C466-4C6C-BFF0-AE2FBE71186F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99EFBFC-6ED5-85BC-7D51-CC948F55F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2A90A10-7E5D-6558-2A3C-58FB2C5C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DB7E-03A0-4CE4-8817-D83EC769C4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3949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99721B7-EEFD-41C3-AF30-9A33A253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8573-C466-4C6C-BFF0-AE2FBE71186F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6EBD0FF-8749-0A0F-E0E1-780139A86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5437A8-443A-BAB9-9765-586F2ADB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DB7E-03A0-4CE4-8817-D83EC769C4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193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414E97-3799-64FA-21E7-E06017052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7A4559-384B-6F79-55B3-CCD292690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751059-8AFC-320B-8D1B-B3A81AD30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506B8A-861E-C173-EDED-8295F5540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8573-C466-4C6C-BFF0-AE2FBE71186F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F937F4-0A02-AECA-4D5B-B34BA3FC5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CCEA34-5A79-376E-C329-426C5E1D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DB7E-03A0-4CE4-8817-D83EC769C4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2612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BA8D1A-E000-C3A6-41C1-0EBE16AF6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4051974-D7BF-4EF0-6FE2-501E671E0D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039688D-B6B5-9773-3873-0F31FC8B3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1DA9567-A84C-A4B9-3F01-92A6B7852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8573-C466-4C6C-BFF0-AE2FBE71186F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E9D2972-B592-B042-EC6F-61F986847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E119AE2-F602-A006-853B-268C316C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DB7E-03A0-4CE4-8817-D83EC769C4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32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887E93-723C-A5BF-7025-3097998F5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65870B3-170C-C37B-1786-D0841901C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D972D8-D00D-991D-17AE-E8F5AF22A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8573-C466-4C6C-BFF0-AE2FBE71186F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D5F664-0F0B-4D63-EF0B-05BDABB3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D2EA54-B151-5063-3E5A-1FDCDFF3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DB7E-03A0-4CE4-8817-D83EC769C4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898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D905865-8251-27E2-CE1C-4C2AE4062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BD784D9-4D40-2E77-DDC1-E43A46218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C8D9B7-7B2C-EA88-A0D7-29CE9C5C5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8573-C466-4C6C-BFF0-AE2FBE71186F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4BB8C8-B6DA-9F9D-1D37-E4CD9A71D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DF297C-58C1-918C-1452-A85A1429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DB7E-03A0-4CE4-8817-D83EC769C4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540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74EE445-CE53-2A2D-A092-DA002D431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52BD1E-E1C7-5FF2-C483-DA0D17EE2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7A86C5-D34B-E109-3742-CBB50809F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F58573-C466-4C6C-BFF0-AE2FBE71186F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BEAE86-02D4-E7F1-5292-3A8F4FC41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E0D6F7-72B1-C069-F00A-6C7288AB9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0DB7E-03A0-4CE4-8817-D83EC769C4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8767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oc.com.tw/archives/642193" TargetMode="External"/><Relationship Id="rId2" Type="http://schemas.openxmlformats.org/officeDocument/2006/relationships/hyperlink" Target="https://www.ichiayi.com/tech/wsl_portforward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unsloth/Qwen3.6-35B-A3B-GGUF" TargetMode="External"/><Relationship Id="rId4" Type="http://schemas.openxmlformats.org/officeDocument/2006/relationships/hyperlink" Target="https://www.youtube.com/watch?v=8F_5pdcD3H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3F9CC0-1263-D2EF-63F1-162EF17FF8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Qwen3.6 35B A3B on 1050ti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D5C1F6C-CDFD-69FF-E0FD-B435A148D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Melody Wang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0479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16195-59D0-33F8-F608-CE7AFB30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Device Info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F3D1DF-E298-364B-1064-3727CFF6C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Windows WSL, Ubuntu 22.04</a:t>
            </a:r>
          </a:p>
          <a:p>
            <a:r>
              <a:rPr lang="en-US" altLang="zh-TW" dirty="0"/>
              <a:t>CPU: Intel(R) Core(TM) i5-8400 CPU @ 2.80GHz, 6 cores</a:t>
            </a:r>
          </a:p>
          <a:p>
            <a:r>
              <a:rPr lang="en-US" altLang="zh-TW" dirty="0"/>
              <a:t>RAM: 24 GB, 22GB for WSL</a:t>
            </a:r>
          </a:p>
          <a:p>
            <a:r>
              <a:rPr lang="en-US" altLang="zh-TW" dirty="0"/>
              <a:t>GPU: NVIDIA GeForce GTX 1050 Ti, 4GB VRAM</a:t>
            </a:r>
          </a:p>
          <a:p>
            <a:r>
              <a:rPr lang="en-US" altLang="zh-TW" dirty="0"/>
              <a:t>CUDA 12.6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8577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8203BD-7DAD-6980-9C0F-8C69F50B7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Preparations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47FA02-9C88-1533-5CF6-4046A3755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GPU driver on windows</a:t>
            </a:r>
          </a:p>
          <a:p>
            <a:r>
              <a:rPr lang="en-US" altLang="zh-TW" dirty="0"/>
              <a:t>GPU driver on WSL</a:t>
            </a:r>
          </a:p>
          <a:p>
            <a:r>
              <a:rPr lang="en-US" altLang="zh-TW" dirty="0"/>
              <a:t>Cuda on WSL</a:t>
            </a:r>
          </a:p>
          <a:p>
            <a:r>
              <a:rPr lang="en-US" altLang="zh-TW" dirty="0"/>
              <a:t>Docker on WSL</a:t>
            </a:r>
          </a:p>
          <a:p>
            <a:r>
              <a:rPr lang="en-US" altLang="zh-TW" dirty="0"/>
              <a:t>NVIDIA Container Toolkit on WSL</a:t>
            </a:r>
          </a:p>
          <a:p>
            <a:r>
              <a:rPr lang="en-US" altLang="zh-TW" dirty="0"/>
              <a:t>Python </a:t>
            </a:r>
            <a:r>
              <a:rPr lang="en-US" altLang="zh-TW" dirty="0" err="1"/>
              <a:t>uv</a:t>
            </a:r>
            <a:r>
              <a:rPr lang="en-US" altLang="zh-TW" dirty="0"/>
              <a:t> on WSL</a:t>
            </a:r>
          </a:p>
          <a:p>
            <a:r>
              <a:rPr lang="en-US" altLang="zh-TW" dirty="0"/>
              <a:t>WSL settings (firewall and memory)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6732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7F6640-25B5-A2D0-8BC9-0F3220A95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D6B17E-1876-3C1C-88CA-904CBB4A4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3EFF2EB-CD11-69FD-9772-ECC865AD8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7" y="747712"/>
            <a:ext cx="11172825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38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D7762D-1F5B-D4FE-068A-8B61A20E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Setup Python </a:t>
            </a:r>
            <a:r>
              <a:rPr lang="en-US" altLang="zh-TW" dirty="0" err="1"/>
              <a:t>uv</a:t>
            </a:r>
            <a:r>
              <a:rPr lang="en-US" altLang="zh-TW" dirty="0"/>
              <a:t> Environment</a:t>
            </a:r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32AAE6B5-9B13-7DFE-31B7-414E0350B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solidFill>
            <a:schemeClr val="tx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TW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uv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venv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--python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3.12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TW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venv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/bin/activate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TW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huggingface_hub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290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2ECB4C-EBDE-60C8-03A3-674144933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Download Model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A34389-F5A0-BB58-59AA-C290B59FD1C8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TW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mkdir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-p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unsloth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/Qwen3.6-35B-A3B-GGUF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TW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nohup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hf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download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unsloth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/Qwen3.6-35B-A3B-GGUF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--include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"Qwen3.6-35B-A3B-UD-IQ1_M.gguf"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--local-</a:t>
            </a:r>
            <a:r>
              <a:rPr lang="en-US" altLang="zh-TW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unsloth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/Qwen3.6-35B-A3B-GGUF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&amp;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TW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nohup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hf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download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unsloth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/Qwen3.6-35B-A3B-GGUF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--include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"mmproj-F16.gguf"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--local-</a:t>
            </a:r>
            <a:r>
              <a:rPr lang="en-US" altLang="zh-TW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unsloth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/Qwen3.6-35B-A3B-GGUF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&amp;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91500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2D37DF-02C8-5113-574E-10D98BEC4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Check CUDA Architecture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3C2F2D-4718-53D8-26A2-410DA45D0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81770"/>
          </a:xfrm>
          <a:solidFill>
            <a:schemeClr val="tx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TW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pull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pytorch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/pytorch:2.6.0-cuda12.4-cudnn9-devel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TW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altLang="zh-TW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gpus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-it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pytorch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/pytorch:2.6.0-cuda12.4-cudnn9-devel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bash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TW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python3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-c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"import torch; print(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torch.cuda.get_device_capability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())"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(</a:t>
            </a:r>
            <a:r>
              <a:rPr lang="en-US" altLang="zh-TW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6,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TW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exit</a:t>
            </a:r>
          </a:p>
          <a:p>
            <a:pPr>
              <a:lnSpc>
                <a:spcPct val="100000"/>
              </a:lnSpc>
              <a:buNone/>
            </a:pP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961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0846D3-096E-0A6C-5343-BBE2E4D2C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llama.cpp Turbo Quant Clone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BCED88-3AE0-4333-8171-E6B60B8D190B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TW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clone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https://github.com/TheTom/llama-cpp-turboquant.git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TW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cd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llama-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cpp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turboquant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TW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checkout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feature/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turboquant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kv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-cache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630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D78F8-BB6E-5E29-D011-6ABEF2AEF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96A71-3747-83B2-B0A9-3D9ACF94C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llama.cpp Turbo Quant Building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E6739D-231A-AB06-CA90-2A68268F1FAD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# in .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devops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cuda.Dockerfile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# modify Ubuntu to 22.04, CUDA 12.3.2, gcc12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TW" dirty="0"/>
          </a:p>
          <a:p>
            <a:pPr>
              <a:lnSpc>
                <a:spcPct val="120000"/>
              </a:lnSpc>
              <a:buNone/>
            </a:pP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docker build --build-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CUDA_DOCKER_ARCH=61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-t local/llama.cpp:server-cuda-12.3-20260531-turboquant --target server -f .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devops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cuda.Dockerfile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.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599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4FD5C8-5FD7-F78F-799E-7D24D9DCA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Run Model by llama.cpp Docker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D6B8F5-0B94-FB9A-A76C-81B85854B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  <a:solidFill>
            <a:schemeClr val="tx1"/>
          </a:solidFill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docker run -d \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--name llama-cpp-qwen3.6-35b-a3b --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gpus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all -v /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mnt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/d/workspace/models:/models -p 11436:11436 \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local/llama.cpp:server-cuda-12.3-20260531-turboquant \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-m /models/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unsloth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/Qwen3.6-35B-A3B-GGUF/Qwen3.6-35B-A3B-UD-IQ1_M.gguf --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mmproj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/models/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unsloth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/Qwen3.6-35B-A3B-GGUF/mmproj-F16.gguf \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--cache-type-k q8_0 --cache-type-v turbo3 \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--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-size 262144 --batch-size 512 --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ubatch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-size 256 --flash-attn on \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--port 11436 \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--host 0.0.0.0 \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--reasoning-budget 0 --reasoning-format none --chat-template-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kwargs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'{"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enable_thinking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":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}' \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--no-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mmap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\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--n-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cpu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TW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moe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41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15714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A3651A-0E15-2A4A-7000-4B0ECE79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57D737-E644-1FC5-AD76-49B9F7297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3445527-1E23-823A-8D84-93626144C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87" y="299128"/>
            <a:ext cx="11940226" cy="625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00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3DD1B1-4DDB-0484-2AA5-E6A1A534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Parameters Comparison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63A44592-AEA8-C5E0-14B7-54607719F9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9901720"/>
              </p:ext>
            </p:extLst>
          </p:nvPr>
        </p:nvGraphicFramePr>
        <p:xfrm>
          <a:off x="838200" y="1825624"/>
          <a:ext cx="10634330" cy="2778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8485">
                  <a:extLst>
                    <a:ext uri="{9D8B030D-6E8A-4147-A177-3AD203B41FA5}">
                      <a16:colId xmlns:a16="http://schemas.microsoft.com/office/drawing/2014/main" val="1860876915"/>
                    </a:ext>
                  </a:extLst>
                </a:gridCol>
                <a:gridCol w="2571068">
                  <a:extLst>
                    <a:ext uri="{9D8B030D-6E8A-4147-A177-3AD203B41FA5}">
                      <a16:colId xmlns:a16="http://schemas.microsoft.com/office/drawing/2014/main" val="3778736172"/>
                    </a:ext>
                  </a:extLst>
                </a:gridCol>
                <a:gridCol w="3544777">
                  <a:extLst>
                    <a:ext uri="{9D8B030D-6E8A-4147-A177-3AD203B41FA5}">
                      <a16:colId xmlns:a16="http://schemas.microsoft.com/office/drawing/2014/main" val="2271351592"/>
                    </a:ext>
                  </a:extLst>
                </a:gridCol>
              </a:tblGrid>
              <a:tr h="6945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Model type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TTFT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Tokens per second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775037"/>
                  </a:ext>
                </a:extLst>
              </a:tr>
              <a:tr h="6945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Qwen 3.6 35B A3B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 s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11.75 t/s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739132"/>
                  </a:ext>
                </a:extLst>
              </a:tr>
              <a:tr h="6945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zh-TW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Qwen 3.6 35B A3B MTP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2.2 s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7.49 t/s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479"/>
                  </a:ext>
                </a:extLst>
              </a:tr>
              <a:tr h="6945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Qwen 3.6 35B A3B Turbo Quant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 s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11.18 t/s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684187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17F5ED7C-ACB0-1BF3-BAD8-EB3CBFC758C6}"/>
              </a:ext>
            </a:extLst>
          </p:cNvPr>
          <p:cNvSpPr txBox="1"/>
          <p:nvPr/>
        </p:nvSpPr>
        <p:spPr>
          <a:xfrm>
            <a:off x="1371599" y="5161043"/>
            <a:ext cx="4614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Memory: </a:t>
            </a:r>
          </a:p>
          <a:p>
            <a:r>
              <a:rPr lang="en-US" altLang="zh-TW" sz="2400" dirty="0"/>
              <a:t>GPU VRAM 3.2 ~ 3.5 GB</a:t>
            </a:r>
          </a:p>
          <a:p>
            <a:r>
              <a:rPr lang="en-US" altLang="zh-TW" sz="2400" dirty="0"/>
              <a:t>CPU RAM: 8.5 ~ 9.8 GB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36757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DBAF9E-06F0-AEF5-EC1D-E7B42CAF4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F49A64-A75D-61BD-7E54-929008F51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hlinkClick r:id="rId2"/>
              </a:rPr>
              <a:t>設定讓外部主機可連上 </a:t>
            </a:r>
            <a:r>
              <a:rPr lang="en-US" altLang="zh-TW" dirty="0">
                <a:hlinkClick r:id="rId2"/>
              </a:rPr>
              <a:t>WSL </a:t>
            </a:r>
            <a:r>
              <a:rPr lang="zh-TW" altLang="en-US" dirty="0">
                <a:hlinkClick r:id="rId2"/>
              </a:rPr>
              <a:t>內的服務</a:t>
            </a:r>
            <a:r>
              <a:rPr lang="en-US" altLang="zh-TW" dirty="0">
                <a:hlinkClick r:id="rId2"/>
              </a:rPr>
              <a:t>(Port Forwarding)</a:t>
            </a:r>
            <a:endParaRPr lang="en-US" altLang="zh-TW" dirty="0"/>
          </a:p>
          <a:p>
            <a:r>
              <a:rPr lang="zh-TW" altLang="en-US" u="sng" dirty="0">
                <a:hlinkClick r:id="rId3"/>
              </a:rPr>
              <a:t>神人成功在 </a:t>
            </a:r>
            <a:r>
              <a:rPr lang="en-US" altLang="zh-TW" u="sng" dirty="0">
                <a:hlinkClick r:id="rId3"/>
              </a:rPr>
              <a:t>GTX 1060 6GB </a:t>
            </a:r>
            <a:r>
              <a:rPr lang="zh-TW" altLang="en-US" u="sng" dirty="0">
                <a:hlinkClick r:id="rId3"/>
              </a:rPr>
              <a:t>上順跑 </a:t>
            </a:r>
            <a:r>
              <a:rPr lang="en-US" altLang="zh-TW" u="sng" dirty="0">
                <a:hlinkClick r:id="rId3"/>
              </a:rPr>
              <a:t>Qwen 3.6 35B A3B </a:t>
            </a:r>
            <a:r>
              <a:rPr lang="zh-TW" altLang="en-US" u="sng" dirty="0">
                <a:hlinkClick r:id="rId3"/>
              </a:rPr>
              <a:t>模型，只需加入這五個參數</a:t>
            </a:r>
            <a:endParaRPr lang="en-US" altLang="zh-TW" u="sng" dirty="0"/>
          </a:p>
          <a:p>
            <a:r>
              <a:rPr lang="en-US" altLang="zh-TW" u="sng" dirty="0">
                <a:hlinkClick r:id="rId4"/>
              </a:rPr>
              <a:t>Running a 35B AI Model on 6GB VRAM, FAST (llama.cpp Guide)</a:t>
            </a:r>
            <a:endParaRPr lang="en-US" altLang="zh-TW" u="sng" dirty="0"/>
          </a:p>
          <a:p>
            <a:r>
              <a:rPr lang="en-US" altLang="zh-TW" dirty="0" err="1">
                <a:hlinkClick r:id="rId5"/>
              </a:rPr>
              <a:t>unsloth</a:t>
            </a:r>
            <a:r>
              <a:rPr lang="en-US" altLang="zh-TW" dirty="0">
                <a:hlinkClick r:id="rId5"/>
              </a:rPr>
              <a:t>/Qwen3.6-35B-A3B-GGUF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12424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522</Words>
  <Application>Microsoft Office PowerPoint</Application>
  <PresentationFormat>寬螢幕</PresentationFormat>
  <Paragraphs>74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Office 佈景主題</vt:lpstr>
      <vt:lpstr>Qwen3.6 35B A3B on 1050ti</vt:lpstr>
      <vt:lpstr>Device Info</vt:lpstr>
      <vt:lpstr>Preparations</vt:lpstr>
      <vt:lpstr>PowerPoint 簡報</vt:lpstr>
      <vt:lpstr>Setup Python uv Environment</vt:lpstr>
      <vt:lpstr>Download Model</vt:lpstr>
      <vt:lpstr>Check CUDA Architecture </vt:lpstr>
      <vt:lpstr>llama.cpp Turbo Quant Clone</vt:lpstr>
      <vt:lpstr>llama.cpp Turbo Quant Building</vt:lpstr>
      <vt:lpstr>Run Model by llama.cpp Docker</vt:lpstr>
      <vt:lpstr>PowerPoint 簡報</vt:lpstr>
      <vt:lpstr>Parameters Comparison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Melody Wang</dc:creator>
  <cp:lastModifiedBy>Melody Wang</cp:lastModifiedBy>
  <cp:revision>15</cp:revision>
  <dcterms:created xsi:type="dcterms:W3CDTF">2026-05-31T11:30:28Z</dcterms:created>
  <dcterms:modified xsi:type="dcterms:W3CDTF">2026-05-31T13:34:05Z</dcterms:modified>
</cp:coreProperties>
</file>